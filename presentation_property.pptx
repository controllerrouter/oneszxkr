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914400"/>
            <a:ext cx="64008" cy="50292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02C"/>
                </a:solidFill>
              </a:rPr>
              <a:t>НЕДВИЖИМОСТЬ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1887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02C"/>
                </a:solidFill>
              </a:rPr>
              <a:t>ДВИЖИМОСТЬ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4476.0" y="457200"/>
            <a:ext cx="0.0" cy="5943600"/>
          </a:xfrm>
          <a:prstGeom prst="line">
            <a:avLst/>
          </a:prstGeom>
          <a:ln w="19050">
            <a:solidFill>
              <a:srgbClr val="C9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3657600"/>
            <a:ext cx="112745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Понятие движимых и недвижимых вещей
в гражданском праве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5349240"/>
            <a:ext cx="11274552" cy="0"/>
          </a:xfrm>
          <a:prstGeom prst="line">
            <a:avLst/>
          </a:prstGeom>
          <a:ln w="25400">
            <a:solidFill>
              <a:srgbClr val="C9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548640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8E4F0"/>
                </a:solidFill>
              </a:rPr>
              <a:t>Подготовил(а): [Ваши ФИО / Должность]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02C"/>
                </a:solidFill>
              </a:rPr>
              <a:t>ст. 130 Гражданского кодекса Российской Федерации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Фундаментальная классификация объектов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70432"/>
            <a:ext cx="11274552" cy="0"/>
          </a:xfrm>
          <a:prstGeom prst="line">
            <a:avLst/>
          </a:prstGeom>
          <a:ln w="25400">
            <a:solidFill>
              <a:srgbClr val="C9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2344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9A02C"/>
                </a:solidFill>
              </a:rPr>
              <a:t>Деление вещей: зачем это важно?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Деление вещей на движимые и недвижимые — основа гражданского права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2121408"/>
            <a:ext cx="11274552" cy="0"/>
          </a:xfrm>
          <a:prstGeom prst="line">
            <a:avLst/>
          </a:prstGeom>
          <a:ln w="25400">
            <a:solidFill>
              <a:srgbClr val="1A5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22128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9A02C"/>
                </a:solidFill>
              </a:rPr>
              <a:t>Зачем нужно деление?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3474720" cy="438912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5234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Правовой режим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36392"/>
            <a:ext cx="3474720" cy="166420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191256"/>
            <a:ext cx="32552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E4F0"/>
                </a:solidFill>
              </a:rPr>
              <a:t>  • Определяет порядок владения,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529584"/>
            <a:ext cx="32552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E4F0"/>
                </a:solidFill>
              </a:rPr>
              <a:t>  • пользования и распоряжения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697480"/>
            <a:ext cx="3474720" cy="438912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75234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Порядок сделок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136392"/>
            <a:ext cx="3474720" cy="166420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3191256"/>
            <a:ext cx="32552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E4F0"/>
                </a:solidFill>
              </a:rPr>
              <a:t>  • Особые требования к форме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3529584"/>
            <a:ext cx="32552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E4F0"/>
                </a:solidFill>
              </a:rPr>
              <a:t>  • и государственной регистрации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697480"/>
            <a:ext cx="3474720" cy="438912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275234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Защита прав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136392"/>
            <a:ext cx="3474720" cy="166420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191256"/>
            <a:ext cx="32552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E4F0"/>
                </a:solidFill>
              </a:rPr>
              <a:t>  • Специальные способы защиты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3529584"/>
            <a:ext cx="32552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E4F0"/>
                </a:solidFill>
              </a:rPr>
              <a:t>  • права собственника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83480"/>
            <a:ext cx="11274552" cy="77724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⚖  Законодательная база: ст. 130 Гражданского кодекса Российской Федерации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Что такое недвижимость?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70432"/>
            <a:ext cx="11274552" cy="0"/>
          </a:xfrm>
          <a:prstGeom prst="line">
            <a:avLst/>
          </a:prstGeom>
          <a:ln w="25400">
            <a:solidFill>
              <a:srgbClr val="C9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2344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9A02C"/>
                </a:solidFill>
              </a:rPr>
              <a:t>Недвижимые вещи «по природе»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8E4F0"/>
                </a:solidFill>
              </a:rPr>
              <a:t>🔑  Главный критерий: прочная связь с землёй и невозможность перемещения
          без несоразмерного ущерба назначению объекта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2286000"/>
            <a:ext cx="11274552" cy="0"/>
          </a:xfrm>
          <a:prstGeom prst="line">
            <a:avLst/>
          </a:prstGeom>
          <a:ln w="25400">
            <a:solidFill>
              <a:srgbClr val="C9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3774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02C"/>
                </a:solidFill>
              </a:rPr>
              <a:t>К недвижимости «по природе» относятся: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2606040" cy="25603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Земельные участки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880360"/>
            <a:ext cx="2606040" cy="25603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301752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0690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Участки недр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880360"/>
            <a:ext cx="2606040" cy="25603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01752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0690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Здания и сооружения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2880360"/>
            <a:ext cx="2606040" cy="25603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301752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0690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Объекты незавершённого строительства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Недвижимость «в силу закона» и ЕГРН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70432"/>
            <a:ext cx="11274552" cy="0"/>
          </a:xfrm>
          <a:prstGeom prst="line">
            <a:avLst/>
          </a:prstGeom>
          <a:ln w="25400">
            <a:solidFill>
              <a:srgbClr val="C9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2344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9A02C"/>
                </a:solidFill>
              </a:rPr>
              <a:t>Юридически недвижимые, физически перемещаемые объекты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8E4F0"/>
                </a:solidFill>
              </a:rPr>
              <a:t>Физически перемещаемы, но юридически недвижимы — ввиду высокой стоимости
и необходимости государственного контроля: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76272"/>
            <a:ext cx="3383280" cy="50292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3163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Воздушные суда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79192"/>
            <a:ext cx="3383280" cy="16459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8503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D8E4F0"/>
                </a:solidFill>
              </a:rPr>
              <a:t>самолёты, вертолёты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2176272"/>
            <a:ext cx="3383280" cy="50292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2240280"/>
            <a:ext cx="3163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Морские суда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2679192"/>
            <a:ext cx="3383280" cy="16459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72491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68503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D8E4F0"/>
                </a:solidFill>
              </a:rPr>
              <a:t>суда внутреннего плавания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176272"/>
            <a:ext cx="3383280" cy="50292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240280"/>
            <a:ext cx="3163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Космические
объекты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679192"/>
            <a:ext cx="3383280" cy="16459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72491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68503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D8E4F0"/>
                </a:solidFill>
              </a:rPr>
              <a:t>спутники, станции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25400">
            <a:solidFill>
              <a:srgbClr val="C9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57200" y="4572000"/>
            <a:ext cx="11274552" cy="1005840"/>
          </a:xfrm>
          <a:prstGeom prst="rect">
            <a:avLst/>
          </a:prstGeom>
          <a:solidFill>
            <a:srgbClr val="0A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36008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📋  Главная юридическая особенность:
Права на любую недвижимость подлежат обязательной государственной
регистрации в Едином государственном реестре недвижимости (ЕГРН)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Понятие движимых вещей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70432"/>
            <a:ext cx="11274552" cy="0"/>
          </a:xfrm>
          <a:prstGeom prst="line">
            <a:avLst/>
          </a:prstGeom>
          <a:ln w="25400">
            <a:solidFill>
              <a:srgbClr val="C9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2344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9A02C"/>
                </a:solidFill>
              </a:rPr>
              <a:t>Определение по остаточному принципу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02C"/>
                </a:solidFill>
              </a:rPr>
              <a:t>📖  Движимые вещи — всё, что не признаётся недвижимостью (ст. 130 ГК РФ, ч. 2)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2286000"/>
            <a:ext cx="11274552" cy="0"/>
          </a:xfrm>
          <a:prstGeom prst="line">
            <a:avLst/>
          </a:prstGeom>
          <a:ln w="25400">
            <a:solidFill>
              <a:srgbClr val="1A5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Основные характеристики: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2651760" cy="45720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Свободное
перемещение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2651760" cy="24688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8E4F0"/>
                </a:solidFill>
              </a:rPr>
              <a:t>в пространстве без ущерба назначению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2834640"/>
            <a:ext cx="2651760" cy="45720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28803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Регистрация прав,
как правило, не требуется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5848" y="3291840"/>
            <a:ext cx="2651760" cy="24688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33375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4343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8E4F0"/>
                </a:solidFill>
              </a:rPr>
              <a:t>упрощённый оборот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2834640"/>
            <a:ext cx="2651760" cy="45720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803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Учёт ТС в ГИБДД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3291840"/>
            <a:ext cx="2651760" cy="24688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33375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4343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8E4F0"/>
                </a:solidFill>
              </a:rPr>
              <a:t>административный, не правоустанавливающий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3144" y="2834640"/>
            <a:ext cx="2651760" cy="45720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28803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Деньги и
ценные бумаги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53144" y="3291840"/>
            <a:ext cx="2651760" cy="24688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4" y="33375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4343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8E4F0"/>
                </a:solidFill>
              </a:rPr>
              <a:t>особые виды движимых вещей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Практика разграничения: как решают суды?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70432"/>
            <a:ext cx="11274552" cy="0"/>
          </a:xfrm>
          <a:prstGeom prst="line">
            <a:avLst/>
          </a:prstGeom>
          <a:ln w="25400">
            <a:solidFill>
              <a:srgbClr val="C9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2344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9A02C"/>
                </a:solidFill>
              </a:rPr>
              <a:t>Спорные ситуации и ключевые критерии квалификации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685800"/>
          </a:xfrm>
          <a:prstGeom prst="rect">
            <a:avLst/>
          </a:prstGeom>
          <a:solidFill>
            <a:srgbClr val="5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⚠  Проблема: сложность квалификации пограничных объектов — киоски, бытовки, сборно-разборные конструкции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2194560"/>
            <a:ext cx="11274552" cy="0"/>
          </a:xfrm>
          <a:prstGeom prst="line">
            <a:avLst/>
          </a:prstGeom>
          <a:ln w="25400">
            <a:solidFill>
              <a:srgbClr val="C9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2860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02C"/>
                </a:solidFill>
              </a:rPr>
              <a:t>2 ключевых критерия, применяемых судами: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5349240" cy="50292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852928"/>
            <a:ext cx="5129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1️⃣  Материальный критерий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349240" cy="21031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55848"/>
            <a:ext cx="5129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E4F0"/>
                </a:solidFill>
              </a:rPr>
              <a:t>  • Наличие капитального фундамента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831336"/>
            <a:ext cx="5129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E4F0"/>
                </a:solidFill>
              </a:rPr>
              <a:t>  • Подведение стационарных коммуникаций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306824"/>
            <a:ext cx="5129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E4F0"/>
                </a:solidFill>
              </a:rPr>
              <a:t>      (электричество, водоснабжение, канализация)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782312"/>
            <a:ext cx="5129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E4F0"/>
                </a:solidFill>
              </a:rPr>
              <a:t>  • Прочная физическая связь с землёй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788920"/>
            <a:ext cx="5349240" cy="5029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2852928"/>
            <a:ext cx="5129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</a:rPr>
              <a:t>2️⃣  Юридический критерий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291840"/>
            <a:ext cx="5349240" cy="21031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3355848"/>
            <a:ext cx="5129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E4F0"/>
                </a:solidFill>
              </a:rPr>
              <a:t>  • Разрешение на строительство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3831336"/>
            <a:ext cx="5129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E4F0"/>
                </a:solidFill>
              </a:rPr>
              <a:t>  • Акт ввода объекта в эксплуатацию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4306824"/>
            <a:ext cx="5129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E4F0"/>
                </a:solidFill>
              </a:rPr>
              <a:t>  • Техническая документация (паспорт БТИ)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4782312"/>
            <a:ext cx="5129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E4F0"/>
                </a:solidFill>
              </a:rPr>
              <a:t>  • Государственная регистрация в ЕГРН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Значение правильной квалификации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70432"/>
            <a:ext cx="11274552" cy="0"/>
          </a:xfrm>
          <a:prstGeom prst="line">
            <a:avLst/>
          </a:prstGeom>
          <a:ln w="25400">
            <a:solidFill>
              <a:srgbClr val="C9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2344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9A02C"/>
                </a:solidFill>
              </a:rPr>
              <a:t>Итоги и практические выводы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Понимание различий между движимым и недвижимым имуществом
критически важно для безопасного гражданского оборота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2240280"/>
            <a:ext cx="11274552" cy="0"/>
          </a:xfrm>
          <a:prstGeom prst="line">
            <a:avLst/>
          </a:prstGeom>
          <a:ln w="25400">
            <a:solidFill>
              <a:srgbClr val="C9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23317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0392B"/>
                </a:solidFill>
              </a:rPr>
              <a:t>Риски ошибки в квалификации объекта: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8E4F0"/>
                </a:solidFill>
              </a:rPr>
              <a:t>❌  Признание сделки недействительной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64408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8E4F0"/>
                </a:solidFill>
              </a:rPr>
              <a:t>❌  Отказ в защите права собственности в суде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39896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8E4F0"/>
                </a:solidFill>
              </a:rPr>
              <a:t>❌  Финансовые и налоговые потери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4315968"/>
            <a:ext cx="11274552" cy="0"/>
          </a:xfrm>
          <a:prstGeom prst="line">
            <a:avLst/>
          </a:prstGeom>
          <a:ln w="25400">
            <a:solidFill>
              <a:srgbClr val="1A5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4434840"/>
            <a:ext cx="11274552" cy="777240"/>
          </a:xfrm>
          <a:prstGeom prst="rect">
            <a:avLst/>
          </a:prstGeom>
          <a:solidFill>
            <a:srgbClr val="0A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✅  Итог: грамотная юридическая оценка объекта — залог успешной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02C"/>
                </a:solidFill>
              </a:rPr>
              <a:t>🤝  Спасибо за внимание!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D8E4F0"/>
                </a:solidFill>
              </a:rPr>
              <a:t>Вопросы и обсуждение приветствуются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