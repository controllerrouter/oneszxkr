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457200"/>
            <a:ext cx="4572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 i="0">
                <a:solidFill>
                  <a:srgbClr val="112A42"/>
                </a:solidFill>
                <a:latin typeface="Calibri"/>
              </a:rPr>
              <a:t>ЕА
ЭС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Техническое регулирование
газовой отрасли в ЕАЭС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A8E8"/>
                </a:solidFill>
                <a:latin typeface="Calibri"/>
              </a:rPr>
              <a:t>Анализ ТР ТС 016/2011, ТР ЕАЭС 036/2016
и ТР ЕАЭС 046/2018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5486400" cy="36576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8E4"/>
                </a:solidFill>
                <a:latin typeface="Calibri"/>
              </a:rPr>
              <a:t>2024 год  |  Евразийский экономический союз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Почему это важно для ЕАЭС?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2468880" cy="1463040"/>
          </a:xfrm>
          <a:prstGeom prst="rect">
            <a:avLst/>
          </a:prstGeom>
          <a:solidFill>
            <a:srgbClr val="0A2844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Добыча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572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114800"/>
            <a:ext cx="2468880" cy="1463040"/>
          </a:xfrm>
          <a:prstGeom prst="rect">
            <a:avLst/>
          </a:prstGeom>
          <a:solidFill>
            <a:srgbClr val="0A2844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160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846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Транспортировка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572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114800"/>
            <a:ext cx="2468880" cy="1463040"/>
          </a:xfrm>
          <a:prstGeom prst="rect">
            <a:avLst/>
          </a:prstGeom>
          <a:solidFill>
            <a:srgbClr val="0A2844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Оборудование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5720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4114800"/>
            <a:ext cx="2468880" cy="1463040"/>
          </a:xfrm>
          <a:prstGeom prst="rect">
            <a:avLst/>
          </a:prstGeom>
          <a:solidFill>
            <a:srgbClr val="0A2844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4160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846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Потребитель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5544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Стратегическая важность газового рынка для экономики ЕАЭС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Необходимость унификации технических требований в 5 государствах-членах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Обеспечение сквозной безопасности: от транспортировки до потребления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ТР ТС 016/2011 — Газовое оборудование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Принят в 2011 году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Аппараты для приготовления пищи и горячего водоснабжения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Отопительные котлы и конвекторы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Блочные горелки и встраиваемые устройства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Регуляторы давления газа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286000"/>
            <a:ext cx="1188720" cy="14630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154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4"/>
                </a:solidFill>
                <a:latin typeface="Calibri"/>
              </a:rPr>
              <a:t>Газовая плита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2286000"/>
            <a:ext cx="1188720" cy="14630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54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4"/>
                </a:solidFill>
                <a:latin typeface="Calibri"/>
              </a:rPr>
              <a:t>Котёл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2286000"/>
            <a:ext cx="1188720" cy="14630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154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4"/>
                </a:solidFill>
                <a:latin typeface="Calibri"/>
              </a:rPr>
              <a:t>Горелка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554480"/>
            <a:ext cx="4297680" cy="36576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554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Виды охватываемого оборудования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ТР ЕАЭС 036/2016 — Сжиженные углеводородные газы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Принят в 2016 году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Сжиженные углеводородные газы (СУГ): пропан, бутан и их смеси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Коммунально-бытовое применение (баллоны, резервуары)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Промышленное топливо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Моторное топливо — автогазозаправочные станции (АГЗС)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560320"/>
            <a:ext cx="1188720" cy="14630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29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4"/>
                </a:solidFill>
                <a:latin typeface="Calibri"/>
              </a:rPr>
              <a:t>Баллон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560320"/>
            <a:ext cx="1188720" cy="14630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429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4"/>
                </a:solidFill>
                <a:latin typeface="Calibri"/>
              </a:rPr>
              <a:t>АГЗС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81360" y="2560320"/>
            <a:ext cx="1188720" cy="14630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3429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4"/>
                </a:solidFill>
                <a:latin typeface="Calibri"/>
              </a:rPr>
              <a:t>Промышленность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ТР ЕАЭС 046/2018 — Природный газ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Принят в 2018 году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5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Природный газ, транспортируемый по магистральным трубопроводам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Сжиженный природный газ (СПГ) — криогенное хранение и перевозка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Компримированный природный газ (КПГ) — моторное топливо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Требования к составу, одоризации и давлению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554480"/>
            <a:ext cx="4114800" cy="484632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Магистральный
газопровод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383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832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СПГ — резервуар
(криогенный)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937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9377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КПГ — моторное
топливо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Область применения: Исключения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Что НЕ попадает под действие ТР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6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solidFill>
            <a:srgbClr val="25080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  <a:latin typeface="Calibri"/>
              </a:rPr>
              <a:t>❌  Экспорт за пределы ЕАЭС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Продукция, предназначенная исключительно для вывоза за пределы Союза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486400" cy="1828800"/>
          </a:xfrm>
          <a:prstGeom prst="rect">
            <a:avLst/>
          </a:prstGeom>
          <a:solidFill>
            <a:srgbClr val="25080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  <a:latin typeface="Calibri"/>
              </a:rPr>
              <a:t>❌  Гособоронзаказ и госрезерв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Продукция для нужд обороны и мобилизационного резерва государств-членов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5486400" cy="1828800"/>
          </a:xfrm>
          <a:prstGeom prst="rect">
            <a:avLst/>
          </a:prstGeom>
          <a:solidFill>
            <a:srgbClr val="25080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  <a:latin typeface="Calibri"/>
              </a:rPr>
              <a:t>❌  Паровые котлы (&gt; 0,07 МПа)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Промышленные паровые котлы с рабочим давлением свыше 0,07 МПа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486400" cy="1828800"/>
          </a:xfrm>
          <a:prstGeom prst="rect">
            <a:avLst/>
          </a:prstGeom>
          <a:solidFill>
            <a:srgbClr val="25080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  <a:latin typeface="Calibri"/>
              </a:rPr>
              <a:t>❌  Водогрейные котлы (&gt; 115 °C)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Промышленные водогрейные котлы с температурой воды свыше 115 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Цели технического регулирования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7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645920"/>
            <a:ext cx="3474720" cy="2103120"/>
          </a:xfrm>
          <a:prstGeom prst="rect">
            <a:avLst/>
          </a:prstGeom>
          <a:solidFill>
            <a:srgbClr val="081E35"/>
          </a:solidFill>
          <a:ln w="317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74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Защита жизни
и здоровья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45920"/>
            <a:ext cx="3474720" cy="2103120"/>
          </a:xfrm>
          <a:prstGeom prst="rect">
            <a:avLst/>
          </a:prstGeom>
          <a:solidFill>
            <a:srgbClr val="081E35"/>
          </a:solidFill>
          <a:ln w="317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74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Охрана
окружающей среды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931920"/>
            <a:ext cx="3474720" cy="2103120"/>
          </a:xfrm>
          <a:prstGeom prst="rect">
            <a:avLst/>
          </a:prstGeom>
          <a:solidFill>
            <a:srgbClr val="081E35"/>
          </a:solidFill>
          <a:ln w="317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114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60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Защита от обмана
потребителей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931920"/>
            <a:ext cx="3474720" cy="2103120"/>
          </a:xfrm>
          <a:prstGeom prst="rect">
            <a:avLst/>
          </a:prstGeom>
          <a:solidFill>
            <a:srgbClr val="081E35"/>
          </a:solidFill>
          <a:ln w="317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160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Ресурсосбережение
и энергоэффективность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834640"/>
            <a:ext cx="1920240" cy="1188720"/>
          </a:xfrm>
          <a:prstGeom prst="rect">
            <a:avLst/>
          </a:prstGeom>
          <a:solidFill>
            <a:srgbClr val="003A6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8346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E8"/>
                </a:solidFill>
                <a:latin typeface="Calibri"/>
              </a:rPr>
              <a:t>ЦЕЛИ
ТР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Правила обращения на рынке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Требования для выхода продукции на рынок ЕАЭС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8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3657600" cy="3474720"/>
          </a:xfrm>
          <a:prstGeom prst="rect">
            <a:avLst/>
          </a:prstGeom>
          <a:solidFill>
            <a:srgbClr val="081E35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3657600" cy="18288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НЕТ документов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8E4"/>
                </a:solidFill>
                <a:latin typeface="Calibri"/>
              </a:rPr>
              <a:t>Продукция не допускается
к обращению на рынке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45920"/>
            <a:ext cx="3657600" cy="3474720"/>
          </a:xfrm>
          <a:prstGeom prst="rect">
            <a:avLst/>
          </a:prstGeom>
          <a:solidFill>
            <a:srgbClr val="081E35"/>
          </a:solidFill>
          <a:ln w="317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645920"/>
            <a:ext cx="3657600" cy="182880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Оценка соответствия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8E4"/>
                </a:solidFill>
                <a:latin typeface="Calibri"/>
              </a:rPr>
              <a:t>Испытания, аудит производства,
формирование доказательной базы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108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645920"/>
            <a:ext cx="3657600" cy="3474720"/>
          </a:xfrm>
          <a:prstGeom prst="rect">
            <a:avLst/>
          </a:prstGeom>
          <a:solidFill>
            <a:srgbClr val="081E35"/>
          </a:solidFill>
          <a:ln w="317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645920"/>
            <a:ext cx="3657600" cy="182880"/>
          </a:xfrm>
          <a:prstGeom prst="rect">
            <a:avLst/>
          </a:prstGeom>
          <a:solidFill>
            <a:srgbClr val="1A8A4A"/>
          </a:solidFill>
          <a:ln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Маркировка EAC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3832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8E4"/>
                </a:solidFill>
                <a:latin typeface="Calibri"/>
              </a:rPr>
              <a:t>Нанесение знака EAC и
выход продукции на рынок ЕАЭС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Идентификация продукции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Порядок и ключевые маркеры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Газ: сравнение фактических характеристик с данными сопроводительных документов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Оборудование: визуальный осмотр + сравнение маркировки с паспортом изделия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  <a:latin typeface="Calibri"/>
              </a:rPr>
              <a:t>Ключевые маркеры идентификации: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0" cy="10058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🏷  Марка / тип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566160"/>
            <a:ext cx="3200400" cy="10058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749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  Давление (МПа)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3200400" cy="10058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⚡  Мощность (кВт)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754880"/>
            <a:ext cx="3200400" cy="1005840"/>
          </a:xfrm>
          <a:prstGeom prst="rect">
            <a:avLst/>
          </a:prstGeom>
          <a:solidFill>
            <a:srgbClr val="0A2844"/>
          </a:solidFill>
          <a:ln w="1524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937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📋  Паспорт / сертификат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017520"/>
            <a:ext cx="4389120" cy="2560320"/>
          </a:xfrm>
          <a:prstGeom prst="rect">
            <a:avLst/>
          </a:prstGeom>
          <a:solidFill>
            <a:srgbClr val="081E35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108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0624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Шильдик
оборудования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319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📄
Паспорт
качества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Требования безопасности: Оборудование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ТР ТС 016/2011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192024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109728" cy="192024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105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🔒  Герметичность газового тракта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Отсутствие утечек при max рабочем давлении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192024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109728" cy="192024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105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💨  Вентиляция камеры сгорания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Надлежащий отвод продуктов сгорания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5486400" cy="192024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109728" cy="192024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136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☁  Контроль выбросов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Нормы по оксидам углерода (CO) и азота (NOₓ)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40"/>
            <a:ext cx="5486400" cy="192024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49040"/>
            <a:ext cx="109728" cy="192024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136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🔴  Автоматическое отключение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При погасании пламени — немедленное закрытие клапана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Требования безопасности: Газ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ТР ЕАЭС 036/2016 и ТР ЕАЭС 046/2018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11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Строгий контроль компонентного состава: сероводород, меркаптановая сера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Нормируемая теплота сгорания (низшая)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Обязательная одоризация — обнаружение утечек по запаху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Регулирование давления на входе в газораспределительную сеть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554480"/>
            <a:ext cx="4572000" cy="4389120"/>
          </a:xfrm>
          <a:prstGeom prst="rect">
            <a:avLst/>
          </a:prstGeom>
          <a:solidFill>
            <a:srgbClr val="041426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Нормы примесей (046/2018)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965960"/>
            <a:ext cx="2286000" cy="420624"/>
          </a:xfrm>
          <a:prstGeom prst="rect">
            <a:avLst/>
          </a:prstGeom>
          <a:solidFill>
            <a:srgbClr val="0A2844"/>
          </a:solidFill>
          <a:ln>
            <a:solidFill>
              <a:srgbClr val="0A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0116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Показатель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965960"/>
            <a:ext cx="1188720" cy="420624"/>
          </a:xfrm>
          <a:prstGeom prst="rect">
            <a:avLst/>
          </a:prstGeom>
          <a:solidFill>
            <a:srgbClr val="0A2844"/>
          </a:solidFill>
          <a:ln>
            <a:solidFill>
              <a:srgbClr val="0A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2" y="2011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Норма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1965960"/>
            <a:ext cx="1005840" cy="420624"/>
          </a:xfrm>
          <a:prstGeom prst="rect">
            <a:avLst/>
          </a:prstGeom>
          <a:solidFill>
            <a:srgbClr val="0A2844"/>
          </a:solidFill>
          <a:ln>
            <a:solidFill>
              <a:srgbClr val="0A2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232" y="2011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Единица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404872"/>
            <a:ext cx="228600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4505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Сероводород H₂S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2404872"/>
            <a:ext cx="118872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24505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≤ 0,007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27080" y="2404872"/>
            <a:ext cx="100584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00232" y="2450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г/м³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843784"/>
            <a:ext cx="228600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2" y="28895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Меркаптановая сера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2843784"/>
            <a:ext cx="118872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2" y="28895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≤ 0,036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27080" y="2843784"/>
            <a:ext cx="100584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00232" y="2889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г/м³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3282696"/>
            <a:ext cx="228600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33284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Кислород O₂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3282696"/>
            <a:ext cx="118872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33284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≤ 0,5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27080" y="3282696"/>
            <a:ext cx="100584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00232" y="33284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% об.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721608"/>
            <a:ext cx="228600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25512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Углекислый газ CO₂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60" y="3721608"/>
            <a:ext cx="118872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1512" y="3767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≤ 2,0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27080" y="3721608"/>
            <a:ext cx="100584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0232" y="3767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% об.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4160520"/>
            <a:ext cx="228600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25512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Точка росы (вода)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8360" y="4160520"/>
            <a:ext cx="118872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11512" y="4206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≤ −20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27080" y="4160520"/>
            <a:ext cx="1005840" cy="420624"/>
          </a:xfrm>
          <a:prstGeom prst="rect">
            <a:avLst/>
          </a:prstGeom>
          <a:solidFill>
            <a:srgbClr val="08223C"/>
          </a:solidFill>
          <a:ln>
            <a:solidFill>
              <a:srgbClr val="08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00232" y="4206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°C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4599432"/>
            <a:ext cx="228600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25512" y="4645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Интенсивность запаха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38360" y="4599432"/>
            <a:ext cx="118872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1512" y="4645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≥ 3 балла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80" y="4599432"/>
            <a:ext cx="1005840" cy="420624"/>
          </a:xfrm>
          <a:prstGeom prst="rect">
            <a:avLst/>
          </a:prstGeom>
          <a:solidFill>
            <a:srgbClr val="061C32"/>
          </a:solidFill>
          <a:ln>
            <a:solidFill>
              <a:srgbClr val="06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46451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  <a:latin typeface="Calibri"/>
              </a:rPr>
              <a:t>при 1% газа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Требования к маркировке: Общие принципы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12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Читаемость и стойкость к внешним воздействиям на протяжении всего срока службы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Текст — на русском языке и языке государства-члена ЕАЭС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Полная информация об изготовителе, стране происхождения и технических характеристиках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486400" cy="2560320"/>
          </a:xfrm>
          <a:prstGeom prst="rect">
            <a:avLst/>
          </a:prstGeom>
          <a:solidFill>
            <a:srgbClr val="081E35"/>
          </a:solidFill>
          <a:ln w="254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alibri"/>
              </a:rPr>
              <a:t>🔩  Оборудование (шильдик)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Наименование и марка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Номинальное давление газа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Теплопроизводительность (кВт)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Напряжение и частота тока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Предупреждения об опасности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486400" cy="2560320"/>
          </a:xfrm>
          <a:prstGeom prst="rect">
            <a:avLst/>
          </a:prstGeom>
          <a:solidFill>
            <a:srgbClr val="081E35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  <a:latin typeface="Calibri"/>
              </a:rPr>
              <a:t>🛢  Газ (цистерна / сопроводит. документы)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69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Наименование и марка газа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Класс опасности и подкласс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Код экстренных мер (КЭМ)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66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Огнегасительные средства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532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• Паспорт качества партии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Специфика маркировки: Оборудование vs Газ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061C36"/>
          </a:solidFill>
          <a:ln w="254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A8E8"/>
                </a:solidFill>
                <a:latin typeface="Calibri"/>
              </a:rPr>
              <a:t>⚙  Оборудование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Мощность (номинальная и минимальная)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Напряжение и частота электропитания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981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Давление газа и вид газа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7530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Предупреждения об опасности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Знак EAC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669280" cy="4572000"/>
          </a:xfrm>
          <a:prstGeom prst="rect">
            <a:avLst/>
          </a:prstGeom>
          <a:solidFill>
            <a:srgbClr val="1A1002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A500"/>
                </a:solidFill>
                <a:latin typeface="Calibri"/>
              </a:rPr>
              <a:t>🛢  Газ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Класс опасности (пиктограмма ромб)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2432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Код экстренных мер (КЭМ)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981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Огнегасительные средства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753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Имя и адрес грузоотправителя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50791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  <a:latin typeface="Calibri"/>
              </a:rPr>
              <a:t>▸  Знак EAC в Паспорте качества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486400"/>
            <a:ext cx="1554480" cy="594360"/>
          </a:xfrm>
          <a:prstGeom prst="rect">
            <a:avLst/>
          </a:prstGeom>
          <a:solidFill>
            <a:srgbClr val="3A1A00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577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🔥 Огнеопасно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5486400"/>
            <a:ext cx="1554480" cy="594360"/>
          </a:xfrm>
          <a:prstGeom prst="rect">
            <a:avLst/>
          </a:prstGeom>
          <a:solidFill>
            <a:srgbClr val="3A1A00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5577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☠ Токсично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5486400"/>
            <a:ext cx="1554480" cy="594360"/>
          </a:xfrm>
          <a:prstGeom prst="rect">
            <a:avLst/>
          </a:prstGeom>
          <a:solidFill>
            <a:srgbClr val="3A1A00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5577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⚠ Опасность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Роль Паспорта качества для топлива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Обязательный документ на каждую партию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Оформляется на каждую партию топлива (газ)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Содержит фактические значения лабораторных испытаний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Должен предоставляться конечному потребителю вместе с продукцией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Является доказательной базой соответствия требованиям ТР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54480"/>
            <a:ext cx="4572000" cy="4846320"/>
          </a:xfrm>
          <a:prstGeom prst="rect">
            <a:avLst/>
          </a:prstGeom>
          <a:solidFill>
            <a:srgbClr val="F8F8F8"/>
          </a:solidFill>
          <a:ln w="254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554480"/>
            <a:ext cx="4572000" cy="502920"/>
          </a:xfrm>
          <a:prstGeom prst="rect">
            <a:avLst/>
          </a:prstGeom>
          <a:solidFill>
            <a:srgbClr val="003A6E"/>
          </a:solidFill>
          <a:ln>
            <a:solidFill>
              <a:srgbClr val="00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5727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ПАСПОРТ КАЧЕСТВА  №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148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Наименование продукции: Пропан технический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5237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Изготовитель: 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8986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Дата выработки: _________________________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735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Номер партии: __________  Объём: 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64845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Результаты испытаний: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— Содержание H₂S: _____  г/м³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982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— Теплота сгорания: ____  МДж/м³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7731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— Давление насыщ. паров: _  МПа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1480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— Интенсивность запаха: __  балл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52297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89787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Подпись: _________ / Печать: 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989320"/>
            <a:ext cx="4572000" cy="384048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60076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← Подпись и печать обязательны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Презумпция соответствия и стандарты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Добровольное применение ГОСТов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15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Добровольное применение ГОСТов из утверждённых перечней к ТР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Выполнение требований стандарта = выполнение требований ТР (презумпция соответствия)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При отсутствии применимого ГОСТа — самостоятельное обоснование безопасности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Перечни публикуются Евразийской экономической комиссией (ЕЭК)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480560"/>
            <a:ext cx="2743200" cy="118872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A8E8"/>
                </a:solidFill>
                <a:latin typeface="Calibri"/>
              </a:rPr>
              <a:t>📚 ГОСТ / ГОСТы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4"/>
                </a:solidFill>
                <a:latin typeface="Calibri"/>
              </a:rPr>
              <a:t>(перечни ЕЭК)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A50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480560"/>
            <a:ext cx="2926080" cy="1188720"/>
          </a:xfrm>
          <a:prstGeom prst="rect">
            <a:avLst/>
          </a:prstGeom>
          <a:solidFill>
            <a:srgbClr val="062812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617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8A4A"/>
                </a:solidFill>
                <a:latin typeface="Calibri"/>
              </a:rPr>
              <a:t>✔ Соответствует ТР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4"/>
                </a:solidFill>
                <a:latin typeface="Calibri"/>
              </a:rPr>
              <a:t>Презумпция соответствия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  <a:latin typeface="Calibri"/>
              </a:rPr>
              <a:t>⚠  Нет ГОСТа? → Обоснование безопасности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Формы оценки соответствия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Принцип: выше риск → строже форма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16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061C36"/>
          </a:solidFill>
          <a:ln w="254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A8E8"/>
                </a:solidFill>
                <a:latin typeface="Calibri"/>
              </a:rPr>
              <a:t>📄  Декларирование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ТР ЕАЭС 036/2016 (СУГ) — ТОЛЬКО декларирование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ТР ЕАЭС 046/2018 (газ) — ТОЛЬКО декларирование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65576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ТР ТС 016/2011 — декларирование для ряда изделий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32504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Используется для продуктов с умеренным уровнем риска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5486400" cy="4389120"/>
          </a:xfrm>
          <a:prstGeom prst="rect">
            <a:avLst/>
          </a:prstGeom>
          <a:solidFill>
            <a:srgbClr val="1A0A00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A500"/>
                </a:solidFill>
                <a:latin typeface="Calibri"/>
              </a:rPr>
              <a:t>🏅  Сертификация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ТР ТС 016/2011 — бытовые плиты, котлы, горелки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9864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Высший уровень контроля и защиты потребителей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6557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Включает анализ производства (схема 1с)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3250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▸  Инспекционный контроль в течение срока действия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840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Схемы декларирования газа (036 и 046)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17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743200" cy="4389120"/>
          </a:xfrm>
          <a:prstGeom prst="rect">
            <a:avLst/>
          </a:prstGeom>
          <a:solidFill>
            <a:srgbClr val="071C30"/>
          </a:solidFill>
          <a:ln w="254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743200" cy="5943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Схема 1д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2BC"/>
                </a:solidFill>
                <a:latin typeface="Calibri"/>
              </a:rPr>
              <a:t>Серийный выпуск
(до 5 лет)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2194560" cy="27432"/>
          </a:xfrm>
          <a:prstGeom prst="rect">
            <a:avLst/>
          </a:prstGeom>
          <a:solidFill>
            <a:srgbClr val="1A3A5A"/>
          </a:solidFill>
          <a:ln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Собственные доказательства
заявителя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691640"/>
            <a:ext cx="2743200" cy="4389120"/>
          </a:xfrm>
          <a:prstGeom prst="rect">
            <a:avLst/>
          </a:prstGeom>
          <a:solidFill>
            <a:srgbClr val="071C30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691640"/>
            <a:ext cx="2743200" cy="59436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Схема 3д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774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E8"/>
                </a:solidFill>
                <a:latin typeface="Calibri"/>
              </a:rPr>
              <a:t>Серийный выпуск
(до 3 лет)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200400"/>
            <a:ext cx="2194560" cy="27432"/>
          </a:xfrm>
          <a:prstGeom prst="rect">
            <a:avLst/>
          </a:prstGeom>
          <a:solidFill>
            <a:srgbClr val="1A3A5A"/>
          </a:solidFill>
          <a:ln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2918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Аккредитованная лаборатория +
собственные доказательства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91640"/>
            <a:ext cx="2743200" cy="4389120"/>
          </a:xfrm>
          <a:prstGeom prst="rect">
            <a:avLst/>
          </a:prstGeom>
          <a:solidFill>
            <a:srgbClr val="071C30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691640"/>
            <a:ext cx="2743200" cy="594360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Схема 4д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774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Партия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200400"/>
            <a:ext cx="2194560" cy="27432"/>
          </a:xfrm>
          <a:prstGeom prst="rect">
            <a:avLst/>
          </a:prstGeom>
          <a:solidFill>
            <a:srgbClr val="1A3A5A"/>
          </a:solidFill>
          <a:ln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918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Испытания в аккредитованной
лаборатории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691640"/>
            <a:ext cx="2743200" cy="4389120"/>
          </a:xfrm>
          <a:prstGeom prst="rect">
            <a:avLst/>
          </a:prstGeom>
          <a:solidFill>
            <a:srgbClr val="071C30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691640"/>
            <a:ext cx="2743200" cy="594360"/>
          </a:xfrm>
          <a:prstGeom prst="rect">
            <a:avLst/>
          </a:prstGeom>
          <a:solidFill>
            <a:srgbClr val="1A8A4A"/>
          </a:solidFill>
          <a:ln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Схема 6д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774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A4A"/>
                </a:solidFill>
                <a:latin typeface="Calibri"/>
              </a:rPr>
              <a:t>Серийный выпуск
(до 5 лет)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3200400"/>
            <a:ext cx="2194560" cy="27432"/>
          </a:xfrm>
          <a:prstGeom prst="rect">
            <a:avLst/>
          </a:prstGeom>
          <a:solidFill>
            <a:srgbClr val="1A3A5A"/>
          </a:solidFill>
          <a:ln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2918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Аккредит. лаборатория +
СМК (ISO 9001)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Схемы сертификации (ТР ТС 016/2011)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18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737360" cy="20116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Заявка
в 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774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828800"/>
            <a:ext cx="1737360" cy="20116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965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Отбор
образцов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3774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828800"/>
            <a:ext cx="1737360" cy="20116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65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Испытания
в лаборатории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828800"/>
            <a:ext cx="1737360" cy="20116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965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Анализ
производства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3774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828800"/>
            <a:ext cx="1737360" cy="20116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965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Выдача
сертификата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3774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E8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87000" y="1828800"/>
            <a:ext cx="1737360" cy="20116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19659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Инспекционный
контроль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11430000" cy="2194560"/>
          </a:xfrm>
          <a:prstGeom prst="rect">
            <a:avLst/>
          </a:prstGeom>
          <a:solidFill>
            <a:srgbClr val="06182C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  <a:latin typeface="Calibri"/>
              </a:rPr>
              <a:t>Схемы сертификации по ТР ТС 016/2011: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Схема 1с:  Серийный выпуск + анализ производства + инспекционный контроль (3 года)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017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Схема 3с:  Серийный выпуск + испытания типового образца (3 года)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8581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Схема 4с:  Партия продукции — испытания каждой партии в аккредит. лаборатории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Маркировка знаком EAC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Единый знак обращения на рынке ЕАЭС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19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Наносится ДО выпуска продукции в обращение на рынок ЕАЭС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Для оборудования — непосредственно на изделие нестираемым способом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Для газа — проставляется в Паспорте качества партии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Минимальный размер знака — 5 мм × 5 мм (для оборудования)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Не допускается нанесение знака до прохождения оценки соответствия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solidFill>
            <a:srgbClr val="003A6E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EAC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297680"/>
            <a:ext cx="3657600" cy="731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434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Единый знак обращения
на рынке ЕАЭС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748272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Защитительная оговорка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8E8"/>
                </a:solidFill>
                <a:latin typeface="Calibri"/>
              </a:rPr>
              <a:t>Механизм защиты рынка ЕАЭС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430000" cy="2286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20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Государства-члены обязаны ограничивать оборот опасной и несоответствующей продукции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Изъятие с рынка оборудования и газа, не соответствующих требованиям ТР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Обязательное уведомление других участников ЕАЭС о принятых мерах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D0D8E4"/>
                </a:solidFill>
                <a:latin typeface="Calibri"/>
              </a:rPr>
              <a:t>▸  Продавец обязан возместить ущерб, причинённый несоответствующей продукцией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480560"/>
            <a:ext cx="4846320" cy="1828800"/>
          </a:xfrm>
          <a:prstGeom prst="rect">
            <a:avLst/>
          </a:prstGeom>
          <a:solidFill>
            <a:srgbClr val="003A6E"/>
          </a:solidFill>
          <a:ln w="317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572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🛡  ЕАЭС защищает потребителей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212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4"/>
                </a:solidFill>
                <a:latin typeface="Calibri"/>
              </a:rPr>
              <a:t>Несоответствующая продукция → Изъятие из оборота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0A8E8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Заключение и 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5486400" cy="36576"/>
          </a:xfrm>
          <a:prstGeom prst="rect">
            <a:avLst/>
          </a:prstGeom>
          <a:solidFill>
            <a:srgbClr val="F0A500"/>
          </a:solidFill>
          <a:ln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  <a:latin typeface="Calibri"/>
              </a:rPr>
              <a:t>Комплексный подход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361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Единое регулирование охватывает и топливо, и оборудование — сквозная цепь безопасности.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  <a:latin typeface="Calibri"/>
              </a:rPr>
              <a:t>Снижение аварийности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8211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Жёсткие технические стандарты на состав газа и конструкцию аппаратов снижают риски взрывов и отравлений.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  <a:latin typeface="Calibri"/>
              </a:rPr>
              <a:t>Прозрачность рынка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2803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Обязательная маркировка EAC и Паспорт качества обеспечивают прослеживаемость продукции.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005840"/>
            <a:ext cx="5029200" cy="4754880"/>
          </a:xfrm>
          <a:prstGeom prst="rect">
            <a:avLst/>
          </a:prstGeom>
          <a:solidFill>
            <a:srgbClr val="081E35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📋 Реализованные ТР: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✔  ТР ТС 016/2011 — газовое оборудование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✔  ТР ЕАЭС 036/2016 — СУГ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4"/>
                </a:solidFill>
                <a:latin typeface="Calibri"/>
              </a:rPr>
              <a:t>✔  ТР ЕАЭС 046/2018 — природный газ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337560"/>
            <a:ext cx="5029200" cy="36576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429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Контакты докладчика: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86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📧  email@example.com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89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📞  +7 (___) ___-__-__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92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  <a:latin typeface="Calibri"/>
              </a:rPr>
              <a:t>🏢  Организация / кафедра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  <a:latin typeface="Calibri"/>
              </a:rPr>
              <a:t>21 /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  <a:latin typeface="Calibri"/>
              </a:rPr>
              <a:t>ЕАЭС · Техническое регулирование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